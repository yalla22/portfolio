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c:\Users\yalla\Videos\DISC_14\reports\Pixhawk_ArduPilot_report.pdf" TargetMode="External"/><Relationship Id="rId3" Type="http://schemas.openxmlformats.org/officeDocument/2006/relationships/hyperlink" Target="c:\Users\yalla\Videos\DISC_14\reports\JIYI_report.pdf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E9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286000"/>
            <a:ext cx="1188720" cy="73152"/>
          </a:xfrm>
          <a:prstGeom prst="rect">
            <a:avLst/>
          </a:prstGeom>
          <a:solidFill>
            <a:srgbClr val="2E9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423160"/>
            <a:ext cx="1042416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4400" b="1">
                <a:solidFill>
                  <a:srgbClr val="1F3A5F"/>
                </a:solidFill>
                <a:latin typeface="Calibri"/>
              </a:rPr>
              <a:t>Projects at Marut Drones</a:t>
            </a:r>
          </a:p>
          <a:p>
            <a:pPr algn="l">
              <a:spcBef>
                <a:spcPts val="1200"/>
              </a:spcBef>
              <a:spcAft>
                <a:spcPts val="300"/>
              </a:spcAft>
            </a:pPr>
            <a:r>
              <a:rPr sz="2000" b="0">
                <a:solidFill>
                  <a:srgbClr val="555F6E"/>
                </a:solidFill>
                <a:latin typeface="Calibri"/>
              </a:rPr>
              <a:t>Drone autonomy, computer vision, mapping &amp; GPS-denied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394960"/>
            <a:ext cx="10424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Janadri Yalla Yashwanth</a:t>
            </a:r>
          </a:p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sz="1400" b="0">
                <a:solidFill>
                  <a:srgbClr val="555F6E"/>
                </a:solidFill>
                <a:latin typeface="Calibri"/>
              </a:rPr>
              <a:t>Software Engineer — Drone AI &amp; Automation  |  Technical Interview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2E9BDF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About 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908792" cy="12801"/>
          </a:xfrm>
          <a:prstGeom prst="rect">
            <a:avLst/>
          </a:prstGeom>
          <a:solidFill>
            <a:srgbClr val="DC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16152"/>
            <a:ext cx="1371600" cy="45720"/>
          </a:xfrm>
          <a:prstGeom prst="rect">
            <a:avLst/>
          </a:prstGeom>
          <a:solidFill>
            <a:srgbClr val="2E9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900" b="1">
                <a:solidFill>
                  <a:srgbClr val="1E242E"/>
                </a:solidFill>
                <a:latin typeface="Calibri"/>
              </a:rPr>
              <a:t>▸  Software Engineer at Marut Drones — Drone AI &amp; Automation team</a:t>
            </a:r>
          </a:p>
          <a:p>
            <a:pPr algn="l">
              <a:spcBef>
                <a:spcPts val="1000"/>
              </a:spcBef>
              <a:spcAft>
                <a:spcPts val="300"/>
              </a:spcAft>
            </a:pPr>
            <a:r>
              <a:rPr sz="1900" b="1">
                <a:solidFill>
                  <a:srgbClr val="1E242E"/>
                </a:solidFill>
                <a:latin typeface="Calibri"/>
              </a:rPr>
              <a:t>▸  B.Tech in Computer Science (AI &amp; ML), CGPA 8.6</a:t>
            </a:r>
          </a:p>
          <a:p>
            <a:pPr algn="l">
              <a:spcBef>
                <a:spcPts val="1000"/>
              </a:spcBef>
              <a:spcAft>
                <a:spcPts val="300"/>
              </a:spcAft>
            </a:pPr>
            <a:r>
              <a:rPr sz="1900" b="1">
                <a:solidFill>
                  <a:srgbClr val="1E242E"/>
                </a:solidFill>
                <a:latin typeface="Calibri"/>
              </a:rPr>
              <a:t>▸  Work spans the full drone-software stack:</a:t>
            </a:r>
          </a:p>
          <a:p>
            <a:pPr algn="l" lvl="1">
              <a:spcBef>
                <a:spcPts val="300"/>
              </a:spcBef>
              <a:spcAft>
                <a:spcPts val="300"/>
              </a:spcAft>
            </a:pPr>
            <a:r>
              <a:rPr sz="1600" b="0">
                <a:solidFill>
                  <a:srgbClr val="555F6E"/>
                </a:solidFill>
                <a:latin typeface="Calibri"/>
              </a:rPr>
              <a:t>•  Computer vision &amp; ML on drone / aerial imagery</a:t>
            </a:r>
          </a:p>
          <a:p>
            <a:pPr algn="l" lvl="1">
              <a:spcBef>
                <a:spcPts val="300"/>
              </a:spcBef>
              <a:spcAft>
                <a:spcPts val="300"/>
              </a:spcAft>
            </a:pPr>
            <a:r>
              <a:rPr sz="1600" b="0">
                <a:solidFill>
                  <a:srgbClr val="555F6E"/>
                </a:solidFill>
                <a:latin typeface="Calibri"/>
              </a:rPr>
              <a:t>•  Autonomous flight, precision landing &amp; obstacle avoidance</a:t>
            </a:r>
          </a:p>
          <a:p>
            <a:pPr algn="l" lvl="1">
              <a:spcBef>
                <a:spcPts val="300"/>
              </a:spcBef>
              <a:spcAft>
                <a:spcPts val="300"/>
              </a:spcAft>
            </a:pPr>
            <a:r>
              <a:rPr sz="1600" b="0">
                <a:solidFill>
                  <a:srgbClr val="555F6E"/>
                </a:solidFill>
                <a:latin typeface="Calibri"/>
              </a:rPr>
              <a:t>•  GPS-denied navigation (LiDAR, radar, SLAM) and mapping / photogrammetry</a:t>
            </a:r>
          </a:p>
          <a:p>
            <a:pPr algn="l" lvl="1">
              <a:spcBef>
                <a:spcPts val="300"/>
              </a:spcBef>
              <a:spcAft>
                <a:spcPts val="300"/>
              </a:spcAft>
            </a:pPr>
            <a:r>
              <a:rPr sz="1600" b="0">
                <a:solidFill>
                  <a:srgbClr val="555F6E"/>
                </a:solidFill>
                <a:latin typeface="Calibri"/>
              </a:rPr>
              <a:t>•  Production backends that serve the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55F6E"/>
                </a:solidFill>
                <a:latin typeface="Calibri"/>
              </a:rPr>
              <a:t>Janadri Yalla Yashwanth  ·  Marut Drones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555F6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2E9BDF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Projects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908792" cy="12801"/>
          </a:xfrm>
          <a:prstGeom prst="rect">
            <a:avLst/>
          </a:prstGeom>
          <a:solidFill>
            <a:srgbClr val="DC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16152"/>
            <a:ext cx="1371600" cy="45720"/>
          </a:xfrm>
          <a:prstGeom prst="rect">
            <a:avLst/>
          </a:prstGeom>
          <a:solidFill>
            <a:srgbClr val="2E9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900" b="1">
                <a:solidFill>
                  <a:srgbClr val="1E242E"/>
                </a:solidFill>
                <a:latin typeface="Calibri"/>
              </a:rPr>
              <a:t>▸  1.  UAV Log Analyzer — JIYI &amp; Pixhawk</a:t>
            </a:r>
          </a:p>
          <a:p>
            <a:pPr algn="l">
              <a:spcBef>
                <a:spcPts val="1000"/>
              </a:spcBef>
              <a:spcAft>
                <a:spcPts val="300"/>
              </a:spcAft>
            </a:pPr>
            <a:r>
              <a:rPr sz="1900" b="1">
                <a:solidFill>
                  <a:srgbClr val="1E242E"/>
                </a:solidFill>
                <a:latin typeface="Calibri"/>
              </a:rPr>
              <a:t>▸  2.  YOLO Detection Models — Custom Training</a:t>
            </a:r>
          </a:p>
          <a:p>
            <a:pPr algn="l">
              <a:spcBef>
                <a:spcPts val="1000"/>
              </a:spcBef>
              <a:spcAft>
                <a:spcPts val="300"/>
              </a:spcAft>
            </a:pPr>
            <a:r>
              <a:rPr sz="1900" b="1">
                <a:solidFill>
                  <a:srgbClr val="1E242E"/>
                </a:solidFill>
                <a:latin typeface="Calibri"/>
              </a:rPr>
              <a:t>▸  3.  Building / Tree / Stockpile Detection — TIFF &amp; Panorama</a:t>
            </a:r>
          </a:p>
          <a:p>
            <a:pPr algn="l">
              <a:spcBef>
                <a:spcPts val="1000"/>
              </a:spcBef>
              <a:spcAft>
                <a:spcPts val="300"/>
              </a:spcAft>
            </a:pPr>
            <a:r>
              <a:rPr sz="1900" b="1">
                <a:solidFill>
                  <a:srgbClr val="1E242E"/>
                </a:solidFill>
                <a:latin typeface="Calibri"/>
              </a:rPr>
              <a:t>▸  4.  Measurement Tools on GeoTIFF</a:t>
            </a:r>
          </a:p>
          <a:p>
            <a:pPr algn="l">
              <a:spcBef>
                <a:spcPts val="1000"/>
              </a:spcBef>
              <a:spcAft>
                <a:spcPts val="300"/>
              </a:spcAft>
            </a:pPr>
            <a:r>
              <a:rPr sz="1900" b="1">
                <a:solidFill>
                  <a:srgbClr val="1E242E"/>
                </a:solidFill>
                <a:latin typeface="Calibri"/>
              </a:rPr>
              <a:t>▸  5.  Depth Estimation — Stereo Cameras</a:t>
            </a:r>
          </a:p>
          <a:p>
            <a:pPr algn="l">
              <a:spcBef>
                <a:spcPts val="1000"/>
              </a:spcBef>
              <a:spcAft>
                <a:spcPts val="300"/>
              </a:spcAft>
            </a:pPr>
            <a:r>
              <a:rPr sz="1900" b="1">
                <a:solidFill>
                  <a:srgbClr val="1E242E"/>
                </a:solidFill>
                <a:latin typeface="Calibri"/>
              </a:rPr>
              <a:t>▸  6.  Precision Landing on a Moving Platform</a:t>
            </a:r>
          </a:p>
          <a:p>
            <a:pPr algn="l">
              <a:spcBef>
                <a:spcPts val="1000"/>
              </a:spcBef>
              <a:spcAft>
                <a:spcPts val="300"/>
              </a:spcAft>
            </a:pPr>
            <a:r>
              <a:rPr sz="1900" b="1">
                <a:solidFill>
                  <a:srgbClr val="1E242E"/>
                </a:solidFill>
                <a:latin typeface="Calibri"/>
              </a:rPr>
              <a:t>▸  7.  MightySLAM — Research &amp; Hardware Requirements</a:t>
            </a:r>
          </a:p>
          <a:p>
            <a:pPr algn="l">
              <a:spcBef>
                <a:spcPts val="1000"/>
              </a:spcBef>
              <a:spcAft>
                <a:spcPts val="300"/>
              </a:spcAft>
            </a:pPr>
            <a:r>
              <a:rPr sz="1900" b="1">
                <a:solidFill>
                  <a:srgbClr val="1E242E"/>
                </a:solidFill>
                <a:latin typeface="Calibri"/>
              </a:rPr>
              <a:t>▸  8.  Photogrammetry Stitching — WebODM &amp; Pix4D</a:t>
            </a:r>
          </a:p>
          <a:p>
            <a:pPr algn="l">
              <a:spcBef>
                <a:spcPts val="1000"/>
              </a:spcBef>
              <a:spcAft>
                <a:spcPts val="300"/>
              </a:spcAft>
            </a:pPr>
            <a:r>
              <a:rPr sz="1900" b="1">
                <a:solidFill>
                  <a:srgbClr val="1E242E"/>
                </a:solidFill>
                <a:latin typeface="Calibri"/>
              </a:rPr>
              <a:t>▸  9.  Path Planning &amp; Obstacle Avoidance — Radar</a:t>
            </a:r>
          </a:p>
          <a:p>
            <a:pPr algn="l">
              <a:spcBef>
                <a:spcPts val="1000"/>
              </a:spcBef>
              <a:spcAft>
                <a:spcPts val="300"/>
              </a:spcAft>
            </a:pPr>
            <a:r>
              <a:rPr sz="1900" b="1">
                <a:solidFill>
                  <a:srgbClr val="1E242E"/>
                </a:solidFill>
                <a:latin typeface="Calibri"/>
              </a:rPr>
              <a:t>▸  10.  Indoor Navigation without GPS — LiDAR</a:t>
            </a:r>
          </a:p>
          <a:p>
            <a:pPr algn="l">
              <a:spcBef>
                <a:spcPts val="1000"/>
              </a:spcBef>
              <a:spcAft>
                <a:spcPts val="300"/>
              </a:spcAft>
            </a:pPr>
            <a:r>
              <a:rPr sz="1900" b="1">
                <a:solidFill>
                  <a:srgbClr val="1E242E"/>
                </a:solidFill>
                <a:latin typeface="Calibri"/>
              </a:rPr>
              <a:t>▸  11.  LingBot — 3D Environment Mapping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55F6E"/>
                </a:solidFill>
                <a:latin typeface="Calibri"/>
              </a:rPr>
              <a:t>Janadri Yalla Yashwanth  ·  Marut Drones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555F6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2E9BDF"/>
                </a:solidFill>
                <a:latin typeface="Calibri"/>
              </a:rPr>
              <a:t>Project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UAV Log Analyzer — JIYI &amp; Pixhawk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908792" cy="12801"/>
          </a:xfrm>
          <a:prstGeom prst="rect">
            <a:avLst/>
          </a:prstGeom>
          <a:solidFill>
            <a:srgbClr val="DC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16152"/>
            <a:ext cx="1371600" cy="45720"/>
          </a:xfrm>
          <a:prstGeom prst="rect">
            <a:avLst/>
          </a:prstGeom>
          <a:solidFill>
            <a:srgbClr val="2E9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612648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sz="1600" b="1">
                <a:solidFill>
                  <a:srgbClr val="1E242E"/>
                </a:solidFill>
                <a:latin typeface="Calibri"/>
              </a:rPr>
              <a:t>▸  Full-stack tool that ingests raw drone logs from two flight controllers, auto-detects the format, decodes, and diagnoses issues</a:t>
            </a:r>
          </a:p>
          <a:p>
            <a:pPr algn="l" lvl="1">
              <a:spcBef>
                <a:spcPts val="300"/>
              </a:spcBef>
              <a:spcAft>
                <a:spcPts val="300"/>
              </a:spcAft>
            </a:pPr>
            <a:r>
              <a:rPr sz="1350" b="0">
                <a:solidFill>
                  <a:srgbClr val="555F6E"/>
                </a:solidFill>
                <a:latin typeface="Calibri"/>
              </a:rPr>
              <a:t>•  Dual ecosystem: Pixhawk / ArduPilot (.bin) and JIYI — including XOR-decrypting JIYI's encrypted logs</a:t>
            </a:r>
          </a:p>
          <a:p>
            <a:pPr algn="l" lvl="1">
              <a:spcBef>
                <a:spcPts val="300"/>
              </a:spcBef>
              <a:spcAft>
                <a:spcPts val="300"/>
              </a:spcAft>
            </a:pPr>
            <a:r>
              <a:rPr sz="1350" b="0">
                <a:solidFill>
                  <a:srgbClr val="555F6E"/>
                </a:solidFill>
                <a:latin typeface="Calibri"/>
              </a:rPr>
              <a:t>•  From-scratch binary parser (50+ message types); ~30-check engine (power, IMU/vibration, GPS, EKF, compass, RC, failsafes)</a:t>
            </a:r>
          </a:p>
          <a:p>
            <a:pPr algn="l" lvl="1">
              <a:spcBef>
                <a:spcPts val="300"/>
              </a:spcBef>
              <a:spcAft>
                <a:spcPts val="300"/>
              </a:spcAft>
            </a:pPr>
            <a:r>
              <a:rPr sz="1350" b="0">
                <a:solidFill>
                  <a:srgbClr val="555F6E"/>
                </a:solidFill>
                <a:latin typeface="Calibri"/>
              </a:rPr>
              <a:t>•  Classifies each finding PASS / WARN / FAIL and infers probable crash cause; generates a PDF report</a:t>
            </a:r>
          </a:p>
          <a:p>
            <a:pPr algn="l">
              <a:spcBef>
                <a:spcPts val="1000"/>
              </a:spcBef>
              <a:spcAft>
                <a:spcPts val="300"/>
              </a:spcAft>
            </a:pPr>
            <a:r>
              <a:rPr sz="1250" b="1">
                <a:solidFill>
                  <a:srgbClr val="2E9BDF"/>
                </a:solidFill>
                <a:latin typeface="Calibri"/>
              </a:rPr>
              <a:t>Python · FastAPI · React · ReportLab · Docker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0" y="1508760"/>
            <a:ext cx="4480560" cy="2468880"/>
          </a:xfrm>
          <a:prstGeom prst="roundRect">
            <a:avLst/>
          </a:prstGeom>
          <a:solidFill>
            <a:srgbClr val="ECEFF3"/>
          </a:solidFill>
          <a:ln w="12700">
            <a:solidFill>
              <a:srgbClr val="B6C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87768" y="1664208"/>
            <a:ext cx="4078224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3A5F"/>
                </a:solidFill>
                <a:latin typeface="Calibri"/>
              </a:rPr>
              <a:t>Format detection — header magic bytes</a:t>
            </a:r>
          </a:p>
          <a:p>
            <a:pPr algn="l">
              <a:spcBef>
                <a:spcPts val="900"/>
              </a:spcBef>
              <a:spcAft>
                <a:spcPts val="300"/>
              </a:spcAft>
            </a:pPr>
            <a:r>
              <a:rPr sz="1300" b="0">
                <a:solidFill>
                  <a:srgbClr val="1E242E"/>
                </a:solidFill>
                <a:latin typeface="Calibri"/>
              </a:rPr>
              <a:t>Pixhawk / ArduPilot   →   A3 95</a:t>
            </a:r>
          </a:p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sz="1300" b="0">
                <a:solidFill>
                  <a:srgbClr val="1E242E"/>
                </a:solidFill>
                <a:latin typeface="Calibri"/>
              </a:rPr>
              <a:t>JIYI (plain)   →   00 FF</a:t>
            </a:r>
          </a:p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sz="1300" b="0">
                <a:solidFill>
                  <a:srgbClr val="1E242E"/>
                </a:solidFill>
                <a:latin typeface="Calibri"/>
              </a:rPr>
              <a:t>JIYI (encrypted)   →   37 C8</a:t>
            </a:r>
          </a:p>
          <a:p>
            <a:pPr algn="l">
              <a:spcBef>
                <a:spcPts val="900"/>
              </a:spcBef>
              <a:spcAft>
                <a:spcPts val="300"/>
              </a:spcAft>
            </a:pPr>
            <a:r>
              <a:rPr sz="1250" b="1">
                <a:solidFill>
                  <a:srgbClr val="2E9BDF"/>
                </a:solidFill>
                <a:latin typeface="Calibri"/>
              </a:rPr>
              <a:t>XOR every byte with 0x37 to decrypt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555F6E"/>
                </a:solidFill>
                <a:latin typeface="Calibri"/>
              </a:rPr>
              <a:t>37^37 = 00 · C8^37 = FF → the known JIYI marker</a:t>
            </a:r>
          </a:p>
        </p:txBody>
      </p:sp>
      <p:sp>
        <p:nvSpPr>
          <p:cNvPr id="9" name="Rounded Rectangle 8">
            <a:hlinkClick r:id="rId2"/>
          </p:cNvPr>
          <p:cNvSpPr/>
          <p:nvPr/>
        </p:nvSpPr>
        <p:spPr>
          <a:xfrm>
            <a:off x="7086600" y="4297680"/>
            <a:ext cx="4480560" cy="658368"/>
          </a:xfrm>
          <a:prstGeom prst="roundRect">
            <a:avLst/>
          </a:prstGeom>
          <a:solidFill>
            <a:srgbClr val="2E9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Open sample report — Pixhawk (ArduPilot)</a:t>
            </a:r>
          </a:p>
        </p:txBody>
      </p:sp>
      <p:sp>
        <p:nvSpPr>
          <p:cNvPr id="10" name="Rounded Rectangle 9">
            <a:hlinkClick r:id="rId3"/>
          </p:cNvPr>
          <p:cNvSpPr/>
          <p:nvPr/>
        </p:nvSpPr>
        <p:spPr>
          <a:xfrm>
            <a:off x="7086600" y="5120640"/>
            <a:ext cx="4480560" cy="658368"/>
          </a:xfrm>
          <a:prstGeom prst="roundRect">
            <a:avLst/>
          </a:prstGeom>
          <a:solidFill>
            <a:srgbClr val="2E9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Open sample report — JIYI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55F6E"/>
                </a:solidFill>
                <a:latin typeface="Calibri"/>
              </a:rPr>
              <a:t>Janadri Yalla Yashwanth  ·  Marut Drones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555F6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2E9BDF"/>
                </a:solidFill>
                <a:latin typeface="Calibri"/>
              </a:rPr>
              <a:t>Project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YOLO Detection Models — Custom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908792" cy="12801"/>
          </a:xfrm>
          <a:prstGeom prst="rect">
            <a:avLst/>
          </a:prstGeom>
          <a:solidFill>
            <a:srgbClr val="DC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16152"/>
            <a:ext cx="1371600" cy="45720"/>
          </a:xfrm>
          <a:prstGeom prst="rect">
            <a:avLst/>
          </a:prstGeom>
          <a:solidFill>
            <a:srgbClr val="2E9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4114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sz="1500" b="1">
                <a:solidFill>
                  <a:srgbClr val="1E242E"/>
                </a:solidFill>
                <a:latin typeface="Calibri"/>
              </a:rPr>
              <a:t>▸  Trained custom YOLO object-detection models on self-labeled datasets for five real-world tasks:</a:t>
            </a:r>
          </a:p>
          <a:p>
            <a:pPr algn="l" lvl="1">
              <a:spcBef>
                <a:spcPts val="300"/>
              </a:spcBef>
              <a:spcAft>
                <a:spcPts val="300"/>
              </a:spcAft>
            </a:pPr>
            <a:r>
              <a:rPr sz="1250" b="0">
                <a:solidFill>
                  <a:srgbClr val="555F6E"/>
                </a:solidFill>
                <a:latin typeface="Calibri"/>
              </a:rPr>
              <a:t>•  Water stagnation · broken fence · vehicle detection · PPE-violation detection · fire detection</a:t>
            </a:r>
          </a:p>
          <a:p>
            <a:pPr algn="l" lvl="1">
              <a:spcBef>
                <a:spcPts val="300"/>
              </a:spcBef>
              <a:spcAft>
                <a:spcPts val="300"/>
              </a:spcAft>
            </a:pPr>
            <a:r>
              <a:rPr sz="1250" b="0">
                <a:solidFill>
                  <a:srgbClr val="555F6E"/>
                </a:solidFill>
                <a:latin typeface="Calibri"/>
              </a:rPr>
              <a:t>•  Owned the full pipeline: data collection → annotation → augmentation → training → validation &amp; tuning</a:t>
            </a:r>
          </a:p>
          <a:p>
            <a:pPr algn="l">
              <a:spcBef>
                <a:spcPts val="1000"/>
              </a:spcBef>
              <a:spcAft>
                <a:spcPts val="300"/>
              </a:spcAft>
            </a:pPr>
            <a:r>
              <a:rPr sz="1200" b="1">
                <a:solidFill>
                  <a:srgbClr val="2E9BDF"/>
                </a:solidFill>
                <a:latin typeface="Calibri"/>
              </a:rPr>
              <a:t>YOLO (Ultralytics) · PyTorch · OpenCV</a:t>
            </a:r>
          </a:p>
        </p:txBody>
      </p:sp>
      <p:pic>
        <p:nvPicPr>
          <p:cNvPr id="7" name="Picture 6" descr="2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100" y="1463040"/>
            <a:ext cx="2286000" cy="2286000"/>
          </a:xfrm>
          <a:prstGeom prst="rect">
            <a:avLst/>
          </a:prstGeom>
        </p:spPr>
      </p:pic>
      <p:pic>
        <p:nvPicPr>
          <p:cNvPr id="8" name="Picture 7" descr="2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815" y="1463040"/>
            <a:ext cx="2380890" cy="2286000"/>
          </a:xfrm>
          <a:prstGeom prst="rect">
            <a:avLst/>
          </a:prstGeom>
        </p:spPr>
      </p:pic>
      <p:pic>
        <p:nvPicPr>
          <p:cNvPr id="9" name="Picture 8" descr="2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660" y="3886200"/>
            <a:ext cx="2987040" cy="2240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55F6E"/>
                </a:solidFill>
                <a:latin typeface="Calibri"/>
              </a:rPr>
              <a:t>Janadri Yalla Yashwanth  ·  Marut Drones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555F6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2E9BDF"/>
                </a:solidFill>
                <a:latin typeface="Calibri"/>
              </a:rPr>
              <a:t>Project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Building / Tree / Stockpile Detection — TIFF &amp; Panorama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908792" cy="12801"/>
          </a:xfrm>
          <a:prstGeom prst="rect">
            <a:avLst/>
          </a:prstGeom>
          <a:solidFill>
            <a:srgbClr val="DC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16152"/>
            <a:ext cx="1371600" cy="45720"/>
          </a:xfrm>
          <a:prstGeom prst="rect">
            <a:avLst/>
          </a:prstGeom>
          <a:solidFill>
            <a:srgbClr val="2E9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4114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sz="1500" b="1">
                <a:solidFill>
                  <a:srgbClr val="1E242E"/>
                </a:solidFill>
                <a:latin typeface="Calibri"/>
              </a:rPr>
              <a:t>▸  Detection pipelines on GeoTIFF orthomosaics and stitched panorama images</a:t>
            </a:r>
          </a:p>
          <a:p>
            <a:pPr algn="l" lvl="1">
              <a:spcBef>
                <a:spcPts val="300"/>
              </a:spcBef>
              <a:spcAft>
                <a:spcPts val="300"/>
              </a:spcAft>
            </a:pPr>
            <a:r>
              <a:rPr sz="1250" b="0">
                <a:solidFill>
                  <a:srgbClr val="555F6E"/>
                </a:solidFill>
                <a:latin typeface="Calibri"/>
              </a:rPr>
              <a:t>•  Buildings (LangSAM / GroundingDINO), trees (DeepForest), stockpiles (SAM-2)</a:t>
            </a:r>
          </a:p>
          <a:p>
            <a:pPr algn="l" lvl="1">
              <a:spcBef>
                <a:spcPts val="300"/>
              </a:spcBef>
              <a:spcAft>
                <a:spcPts val="300"/>
              </a:spcAft>
            </a:pPr>
            <a:r>
              <a:rPr sz="1250" b="0">
                <a:solidFill>
                  <a:srgbClr val="555F6E"/>
                </a:solidFill>
                <a:latin typeface="Calibri"/>
              </a:rPr>
              <a:t>•  DSM / DTM height filtering to remove false positives; stockpile volume (m3) + material classification</a:t>
            </a:r>
          </a:p>
          <a:p>
            <a:pPr algn="l" lvl="1">
              <a:spcBef>
                <a:spcPts val="300"/>
              </a:spcBef>
              <a:spcAft>
                <a:spcPts val="300"/>
              </a:spcAft>
            </a:pPr>
            <a:r>
              <a:rPr sz="1250" b="0">
                <a:solidFill>
                  <a:srgbClr val="555F6E"/>
                </a:solidFill>
                <a:latin typeface="Calibri"/>
              </a:rPr>
              <a:t>•  Output: georeferenced GeoJSON with per-object area, height and volume</a:t>
            </a:r>
          </a:p>
          <a:p>
            <a:pPr algn="l">
              <a:spcBef>
                <a:spcPts val="1000"/>
              </a:spcBef>
              <a:spcAft>
                <a:spcPts val="300"/>
              </a:spcAft>
            </a:pPr>
            <a:r>
              <a:rPr sz="1200" b="1">
                <a:solidFill>
                  <a:srgbClr val="2E9BDF"/>
                </a:solidFill>
                <a:latin typeface="Calibri"/>
              </a:rPr>
              <a:t>SAM-2 · DeepForest · GroundingDINO · rasterio / GDAL</a:t>
            </a:r>
          </a:p>
        </p:txBody>
      </p:sp>
      <p:pic>
        <p:nvPicPr>
          <p:cNvPr id="7" name="Picture 6" descr="3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641634"/>
            <a:ext cx="3429000" cy="1928812"/>
          </a:xfrm>
          <a:prstGeom prst="rect">
            <a:avLst/>
          </a:prstGeom>
        </p:spPr>
      </p:pic>
      <p:pic>
        <p:nvPicPr>
          <p:cNvPr id="8" name="Picture 7" descr="3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663825"/>
            <a:ext cx="3429000" cy="1884430"/>
          </a:xfrm>
          <a:prstGeom prst="rect">
            <a:avLst/>
          </a:prstGeom>
        </p:spPr>
      </p:pic>
      <p:pic>
        <p:nvPicPr>
          <p:cNvPr id="9" name="Picture 8" descr="3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900" y="3886200"/>
            <a:ext cx="4480560" cy="2240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55F6E"/>
                </a:solidFill>
                <a:latin typeface="Calibri"/>
              </a:rPr>
              <a:t>Janadri Yalla Yashwanth  ·  Marut Drones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555F6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2E9BDF"/>
                </a:solidFill>
                <a:latin typeface="Calibri"/>
              </a:rPr>
              <a:t>Project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Measurement Tools on GeoTIFF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908792" cy="12801"/>
          </a:xfrm>
          <a:prstGeom prst="rect">
            <a:avLst/>
          </a:prstGeom>
          <a:solidFill>
            <a:srgbClr val="DC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16152"/>
            <a:ext cx="1371600" cy="45720"/>
          </a:xfrm>
          <a:prstGeom prst="rect">
            <a:avLst/>
          </a:prstGeom>
          <a:solidFill>
            <a:srgbClr val="2E9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sz="1700" b="1">
                <a:solidFill>
                  <a:srgbClr val="1E242E"/>
                </a:solidFill>
                <a:latin typeface="Calibri"/>
              </a:rPr>
              <a:t>▸  Built measurement tools that operate on georeferenced TIFF orthomosaics</a:t>
            </a:r>
          </a:p>
          <a:p>
            <a:pPr algn="l" lvl="1">
              <a:spcBef>
                <a:spcPts val="300"/>
              </a:spcBef>
              <a:spcAft>
                <a:spcPts val="300"/>
              </a:spcAft>
            </a:pPr>
            <a:r>
              <a:rPr sz="1450" b="0">
                <a:solidFill>
                  <a:srgbClr val="555F6E"/>
                </a:solidFill>
                <a:latin typeface="Calibri"/>
              </a:rPr>
              <a:t>•  Distance, area and elevation measurement using CRS-aware pixel-to-real-world conversion</a:t>
            </a:r>
          </a:p>
          <a:p>
            <a:pPr algn="l" lvl="1">
              <a:spcBef>
                <a:spcPts val="300"/>
              </a:spcBef>
              <a:spcAft>
                <a:spcPts val="300"/>
              </a:spcAft>
            </a:pPr>
            <a:r>
              <a:rPr sz="1450" b="0">
                <a:solidFill>
                  <a:srgbClr val="555F6E"/>
                </a:solidFill>
                <a:latin typeface="Calibri"/>
              </a:rPr>
              <a:t>•  Lets surveyors take accurate real-world measurements directly on the map</a:t>
            </a:r>
          </a:p>
          <a:p>
            <a:pPr algn="l">
              <a:spcBef>
                <a:spcPts val="1200"/>
              </a:spcBef>
              <a:spcAft>
                <a:spcPts val="300"/>
              </a:spcAft>
            </a:pPr>
            <a:r>
              <a:rPr sz="1300" b="1">
                <a:solidFill>
                  <a:srgbClr val="2E9BDF"/>
                </a:solidFill>
                <a:latin typeface="Calibri"/>
              </a:rPr>
              <a:t>Python · rasterio / GDAL · GeoTIFF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55F6E"/>
                </a:solidFill>
                <a:latin typeface="Calibri"/>
              </a:rPr>
              <a:t>Janadri Yalla Yashwanth  ·  Marut Drones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555F6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2E9BDF"/>
                </a:solidFill>
                <a:latin typeface="Calibri"/>
              </a:rPr>
              <a:t>Project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Depth Estimation — Stereo Cameras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908792" cy="12801"/>
          </a:xfrm>
          <a:prstGeom prst="rect">
            <a:avLst/>
          </a:prstGeom>
          <a:solidFill>
            <a:srgbClr val="DC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16152"/>
            <a:ext cx="1371600" cy="45720"/>
          </a:xfrm>
          <a:prstGeom prst="rect">
            <a:avLst/>
          </a:prstGeom>
          <a:solidFill>
            <a:srgbClr val="2E9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4114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sz="1500" b="1">
                <a:solidFill>
                  <a:srgbClr val="1E242E"/>
                </a:solidFill>
                <a:latin typeface="Calibri"/>
              </a:rPr>
              <a:t>▸  Estimates real-world distance to objects from a calibrated stereo camera pair — outputs per-object range (e.g. 2.33 m, 2.17 m)</a:t>
            </a:r>
          </a:p>
          <a:p>
            <a:pPr algn="l" lvl="1">
              <a:spcBef>
                <a:spcPts val="300"/>
              </a:spcBef>
              <a:spcAft>
                <a:spcPts val="300"/>
              </a:spcAft>
            </a:pPr>
            <a:r>
              <a:rPr sz="1250" b="0">
                <a:solidFill>
                  <a:srgbClr val="555F6E"/>
                </a:solidFill>
                <a:latin typeface="Calibri"/>
              </a:rPr>
              <a:t>•  Calibrated the cameras with a checkerboard target; stereo rectification → disparity map → metric depth</a:t>
            </a:r>
          </a:p>
          <a:p>
            <a:pPr algn="l" lvl="1">
              <a:spcBef>
                <a:spcPts val="300"/>
              </a:spcBef>
              <a:spcAft>
                <a:spcPts val="300"/>
              </a:spcAft>
            </a:pPr>
            <a:r>
              <a:rPr sz="1250" b="0">
                <a:solidFill>
                  <a:srgbClr val="555F6E"/>
                </a:solidFill>
                <a:latin typeface="Calibri"/>
              </a:rPr>
              <a:t>•  Built a custom stereo camera rig running on a Raspberry Pi</a:t>
            </a:r>
          </a:p>
          <a:p>
            <a:pPr algn="l" lvl="1">
              <a:spcBef>
                <a:spcPts val="300"/>
              </a:spcBef>
              <a:spcAft>
                <a:spcPts val="300"/>
              </a:spcAft>
            </a:pPr>
            <a:r>
              <a:rPr sz="1250" b="0">
                <a:solidFill>
                  <a:srgbClr val="555F6E"/>
                </a:solidFill>
                <a:latin typeface="Calibri"/>
              </a:rPr>
              <a:t>•  Gives the drone 3D perception / distance sensing without GPS or LiDAR</a:t>
            </a:r>
          </a:p>
          <a:p>
            <a:pPr algn="l">
              <a:spcBef>
                <a:spcPts val="1000"/>
              </a:spcBef>
              <a:spcAft>
                <a:spcPts val="300"/>
              </a:spcAft>
            </a:pPr>
            <a:r>
              <a:rPr sz="1200" b="1">
                <a:solidFill>
                  <a:srgbClr val="2E9BDF"/>
                </a:solidFill>
                <a:latin typeface="Calibri"/>
              </a:rPr>
              <a:t>OpenCV (stereo vision) · Raspberry Pi · Python</a:t>
            </a:r>
          </a:p>
        </p:txBody>
      </p:sp>
      <p:pic>
        <p:nvPicPr>
          <p:cNvPr id="7" name="Picture 6" descr="5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100" y="1463040"/>
            <a:ext cx="3048000" cy="2286000"/>
          </a:xfrm>
          <a:prstGeom prst="rect">
            <a:avLst/>
          </a:prstGeom>
        </p:spPr>
      </p:pic>
      <p:pic>
        <p:nvPicPr>
          <p:cNvPr id="8" name="Picture 7" descr="5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260" y="1463040"/>
            <a:ext cx="3048000" cy="2286000"/>
          </a:xfrm>
          <a:prstGeom prst="rect">
            <a:avLst/>
          </a:prstGeom>
        </p:spPr>
      </p:pic>
      <p:pic>
        <p:nvPicPr>
          <p:cNvPr id="9" name="Picture 8" descr="2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660" y="3886200"/>
            <a:ext cx="2987040" cy="2240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55F6E"/>
                </a:solidFill>
                <a:latin typeface="Calibri"/>
              </a:rPr>
              <a:t>Janadri Yalla Yashwanth  ·  Marut Drones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555F6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2E9BDF"/>
                </a:solidFill>
                <a:latin typeface="Calibri"/>
              </a:rPr>
              <a:t>Project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Precision Landing on a Moving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908792" cy="12801"/>
          </a:xfrm>
          <a:prstGeom prst="rect">
            <a:avLst/>
          </a:prstGeom>
          <a:solidFill>
            <a:srgbClr val="DC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16152"/>
            <a:ext cx="1371600" cy="45720"/>
          </a:xfrm>
          <a:prstGeom prst="rect">
            <a:avLst/>
          </a:prstGeom>
          <a:solidFill>
            <a:srgbClr val="2E9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658368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sz="1700" b="1">
                <a:solidFill>
                  <a:srgbClr val="1E242E"/>
                </a:solidFill>
                <a:latin typeface="Calibri"/>
              </a:rPr>
              <a:t>▸  Autonomous landing on an AprilTag target mounted on a moving ground rover</a:t>
            </a:r>
          </a:p>
          <a:p>
            <a:pPr algn="l" lvl="1">
              <a:spcBef>
                <a:spcPts val="300"/>
              </a:spcBef>
              <a:spcAft>
                <a:spcPts val="300"/>
              </a:spcAft>
            </a:pPr>
            <a:r>
              <a:rPr sz="1450" b="0">
                <a:solidFill>
                  <a:srgbClr val="555F6E"/>
                </a:solidFill>
                <a:latin typeface="Calibri"/>
              </a:rPr>
              <a:t>•  Raspberry Pi companion: AprilTag (OpenCV) → LANDING_TARGET + velocity setpoints over MAVLink to the flight controller at 20 Hz</a:t>
            </a:r>
          </a:p>
          <a:p>
            <a:pPr algn="l" lvl="1">
              <a:spcBef>
                <a:spcPts val="300"/>
              </a:spcBef>
              <a:spcAft>
                <a:spcPts val="300"/>
              </a:spcAft>
            </a:pPr>
            <a:r>
              <a:rPr sz="1450" b="0">
                <a:solidFill>
                  <a:srgbClr val="555F6E"/>
                </a:solidFill>
                <a:latin typeface="Calibri"/>
              </a:rPr>
              <a:t>•  Three-mode state machine: visual control with rover-velocity feed-forward, GPS-NAV, hover fallback; touchdown auto-disarm</a:t>
            </a:r>
          </a:p>
          <a:p>
            <a:pPr algn="l" lvl="1">
              <a:spcBef>
                <a:spcPts val="300"/>
              </a:spcBef>
              <a:spcAft>
                <a:spcPts val="300"/>
              </a:spcAft>
            </a:pPr>
            <a:r>
              <a:rPr sz="1450" b="0">
                <a:solidFill>
                  <a:srgbClr val="555F6E"/>
                </a:solidFill>
                <a:latin typeface="Calibri"/>
              </a:rPr>
              <a:t>•  Proven ~5-10 cm accuracy on the stationary tag</a:t>
            </a:r>
          </a:p>
          <a:p>
            <a:pPr algn="l">
              <a:spcBef>
                <a:spcPts val="1200"/>
              </a:spcBef>
              <a:spcAft>
                <a:spcPts val="300"/>
              </a:spcAft>
            </a:pPr>
            <a:r>
              <a:rPr sz="1300" b="1">
                <a:solidFill>
                  <a:srgbClr val="2E9BDF"/>
                </a:solidFill>
                <a:latin typeface="Calibri"/>
              </a:rPr>
              <a:t>ArduPilot · MAVLink · Raspberry Pi · AprilTag · OpenCV</a:t>
            </a:r>
          </a:p>
        </p:txBody>
      </p:sp>
      <p:pic>
        <p:nvPicPr>
          <p:cNvPr id="7" name="Picture 6" descr="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2188845"/>
            <a:ext cx="4160519" cy="31203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55F6E"/>
                </a:solidFill>
                <a:latin typeface="Calibri"/>
              </a:rPr>
              <a:t>Janadri Yalla Yashwanth  ·  Marut Drones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555F6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2E9BDF"/>
                </a:solidFill>
                <a:latin typeface="Calibri"/>
              </a:rPr>
              <a:t>Project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MightySLAM — Research &amp; Hardware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908792" cy="12801"/>
          </a:xfrm>
          <a:prstGeom prst="rect">
            <a:avLst/>
          </a:prstGeom>
          <a:solidFill>
            <a:srgbClr val="DC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16152"/>
            <a:ext cx="1371600" cy="45720"/>
          </a:xfrm>
          <a:prstGeom prst="rect">
            <a:avLst/>
          </a:prstGeom>
          <a:solidFill>
            <a:srgbClr val="2E9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sz="1700" b="1">
                <a:solidFill>
                  <a:srgbClr val="1E242E"/>
                </a:solidFill>
                <a:latin typeface="Calibri"/>
              </a:rPr>
              <a:t>▸  Researched MightySLAM for GPS-denied localization and mapping</a:t>
            </a:r>
          </a:p>
          <a:p>
            <a:pPr algn="l" lvl="1">
              <a:spcBef>
                <a:spcPts val="300"/>
              </a:spcBef>
              <a:spcAft>
                <a:spcPts val="300"/>
              </a:spcAft>
            </a:pPr>
            <a:r>
              <a:rPr sz="1450" b="0">
                <a:solidFill>
                  <a:srgbClr val="555F6E"/>
                </a:solidFill>
                <a:latin typeface="Calibri"/>
              </a:rPr>
              <a:t>•  Evaluated the approach and its sensor / compute needs for our drone platform</a:t>
            </a:r>
          </a:p>
          <a:p>
            <a:pPr algn="l" lvl="1">
              <a:spcBef>
                <a:spcPts val="300"/>
              </a:spcBef>
              <a:spcAft>
                <a:spcPts val="300"/>
              </a:spcAft>
            </a:pPr>
            <a:r>
              <a:rPr sz="1450" b="0">
                <a:solidFill>
                  <a:srgbClr val="555F6E"/>
                </a:solidFill>
                <a:latin typeface="Calibri"/>
              </a:rPr>
              <a:t>•  Produced a hardware-requirements report to guide deployment</a:t>
            </a:r>
          </a:p>
          <a:p>
            <a:pPr algn="l">
              <a:spcBef>
                <a:spcPts val="1200"/>
              </a:spcBef>
              <a:spcAft>
                <a:spcPts val="300"/>
              </a:spcAft>
            </a:pPr>
            <a:r>
              <a:rPr sz="1300" b="1">
                <a:solidFill>
                  <a:srgbClr val="2E9BDF"/>
                </a:solidFill>
                <a:latin typeface="Calibri"/>
              </a:rPr>
              <a:t>SLAM · Sensor fusion (LiDAR / camera / IMU)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55F6E"/>
                </a:solidFill>
                <a:latin typeface="Calibri"/>
              </a:rPr>
              <a:t>Janadri Yalla Yashwanth  ·  Marut Drones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555F6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2E9BDF"/>
                </a:solidFill>
                <a:latin typeface="Calibri"/>
              </a:rPr>
              <a:t>Project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Photogrammetry Stitching — WebODM &amp; Pix4D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908792" cy="12801"/>
          </a:xfrm>
          <a:prstGeom prst="rect">
            <a:avLst/>
          </a:prstGeom>
          <a:solidFill>
            <a:srgbClr val="DC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16152"/>
            <a:ext cx="1371600" cy="45720"/>
          </a:xfrm>
          <a:prstGeom prst="rect">
            <a:avLst/>
          </a:prstGeom>
          <a:solidFill>
            <a:srgbClr val="2E9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sz="1700" b="1">
                <a:solidFill>
                  <a:srgbClr val="1E242E"/>
                </a:solidFill>
                <a:latin typeface="Calibri"/>
              </a:rPr>
              <a:t>▸  Generated orthomosaics and 3D reconstructions from drone image sets</a:t>
            </a:r>
          </a:p>
          <a:p>
            <a:pPr algn="l" lvl="1">
              <a:spcBef>
                <a:spcPts val="300"/>
              </a:spcBef>
              <a:spcAft>
                <a:spcPts val="300"/>
              </a:spcAft>
            </a:pPr>
            <a:r>
              <a:rPr sz="1450" b="0">
                <a:solidFill>
                  <a:srgbClr val="555F6E"/>
                </a:solidFill>
                <a:latin typeface="Calibri"/>
              </a:rPr>
              <a:t>•  Used WebODM (open-source) and Pix4D Mapper (commercial) pipelines</a:t>
            </a:r>
          </a:p>
          <a:p>
            <a:pPr algn="l" lvl="1">
              <a:spcBef>
                <a:spcPts val="300"/>
              </a:spcBef>
              <a:spcAft>
                <a:spcPts val="300"/>
              </a:spcAft>
            </a:pPr>
            <a:r>
              <a:rPr sz="1450" b="0">
                <a:solidFill>
                  <a:srgbClr val="555F6E"/>
                </a:solidFill>
                <a:latin typeface="Calibri"/>
              </a:rPr>
              <a:t>•  Feeds the stitched maps used by the detection and measurement tools</a:t>
            </a:r>
          </a:p>
          <a:p>
            <a:pPr algn="l">
              <a:spcBef>
                <a:spcPts val="1200"/>
              </a:spcBef>
              <a:spcAft>
                <a:spcPts val="300"/>
              </a:spcAft>
            </a:pPr>
            <a:r>
              <a:rPr sz="1300" b="1">
                <a:solidFill>
                  <a:srgbClr val="2E9BDF"/>
                </a:solidFill>
                <a:latin typeface="Calibri"/>
              </a:rPr>
              <a:t>WebODM · Pix4D Mapper · Photogrammetry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55F6E"/>
                </a:solidFill>
                <a:latin typeface="Calibri"/>
              </a:rPr>
              <a:t>Janadri Yalla Yashwanth  ·  Marut Drones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555F6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2E9BDF"/>
                </a:solidFill>
                <a:latin typeface="Calibri"/>
              </a:rPr>
              <a:t>Project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Path Planning &amp; Obstacle Avoidance — Radar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908792" cy="12801"/>
          </a:xfrm>
          <a:prstGeom prst="rect">
            <a:avLst/>
          </a:prstGeom>
          <a:solidFill>
            <a:srgbClr val="DC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16152"/>
            <a:ext cx="1371600" cy="45720"/>
          </a:xfrm>
          <a:prstGeom prst="rect">
            <a:avLst/>
          </a:prstGeom>
          <a:solidFill>
            <a:srgbClr val="2E9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4114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sz="1500" b="1">
                <a:solidFill>
                  <a:srgbClr val="1E242E"/>
                </a:solidFill>
                <a:latin typeface="Calibri"/>
              </a:rPr>
              <a:t>▸  Pre-mission path planning with radar-based obstacle avoidance, validated on real flight data (226 obstacles mapped in one flight)</a:t>
            </a:r>
          </a:p>
          <a:p>
            <a:pPr algn="l" lvl="1">
              <a:spcBef>
                <a:spcPts val="300"/>
              </a:spcBef>
              <a:spcAft>
                <a:spcPts val="300"/>
              </a:spcAft>
            </a:pPr>
            <a:r>
              <a:rPr sz="1250" b="0">
                <a:solidFill>
                  <a:srgbClr val="555F6E"/>
                </a:solidFill>
                <a:latin typeface="Calibri"/>
              </a:rPr>
              <a:t>•  3D-aware avoidance: fly OVER short obstacles, steer around taller ones with a safety margin (2.5 m) and ~3.8 m min clearance</a:t>
            </a:r>
          </a:p>
          <a:p>
            <a:pPr algn="l" lvl="1">
              <a:spcBef>
                <a:spcPts val="300"/>
              </a:spcBef>
              <a:spcAft>
                <a:spcPts val="300"/>
              </a:spcAft>
            </a:pPr>
            <a:r>
              <a:rPr sz="1250" b="0">
                <a:solidFill>
                  <a:srgbClr val="555F6E"/>
                </a:solidFill>
                <a:latin typeface="Calibri"/>
              </a:rPr>
              <a:t>•  Compared sensor coverage — a 112° front radar saw 114 of 154 nearby obstacles vs a 360° radar seeing all 154; front + down radar for terrain</a:t>
            </a:r>
          </a:p>
          <a:p>
            <a:pPr algn="l" lvl="1">
              <a:spcBef>
                <a:spcPts val="300"/>
              </a:spcBef>
              <a:spcAft>
                <a:spcPts val="300"/>
              </a:spcAft>
            </a:pPr>
            <a:r>
              <a:rPr sz="1250" b="0">
                <a:solidFill>
                  <a:srgbClr val="555F6E"/>
                </a:solidFill>
                <a:latin typeface="Calibri"/>
              </a:rPr>
              <a:t>•  Obstacles and planned routes visualized on satellite imagery</a:t>
            </a:r>
          </a:p>
          <a:p>
            <a:pPr algn="l">
              <a:spcBef>
                <a:spcPts val="1000"/>
              </a:spcBef>
              <a:spcAft>
                <a:spcPts val="300"/>
              </a:spcAft>
            </a:pPr>
            <a:r>
              <a:rPr sz="1200" b="1">
                <a:solidFill>
                  <a:srgbClr val="2E9BDF"/>
                </a:solidFill>
                <a:latin typeface="Calibri"/>
              </a:rPr>
              <a:t>Radar (360° + front/down) · Path planning · Python · ArduPilot</a:t>
            </a:r>
          </a:p>
        </p:txBody>
      </p:sp>
      <p:pic>
        <p:nvPicPr>
          <p:cNvPr id="7" name="Picture 6" descr="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5916" y="1463040"/>
            <a:ext cx="1938367" cy="2286000"/>
          </a:xfrm>
          <a:prstGeom prst="rect">
            <a:avLst/>
          </a:prstGeom>
        </p:spPr>
      </p:pic>
      <p:pic>
        <p:nvPicPr>
          <p:cNvPr id="8" name="Picture 7" descr="9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4207" y="1463040"/>
            <a:ext cx="1914106" cy="2286000"/>
          </a:xfrm>
          <a:prstGeom prst="rect">
            <a:avLst/>
          </a:prstGeom>
        </p:spPr>
      </p:pic>
      <p:pic>
        <p:nvPicPr>
          <p:cNvPr id="9" name="Picture 8" descr="9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3468" y="3886200"/>
            <a:ext cx="3669424" cy="2240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55F6E"/>
                </a:solidFill>
                <a:latin typeface="Calibri"/>
              </a:rPr>
              <a:t>Janadri Yalla Yashwanth  ·  Marut Drones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555F6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2E9BDF"/>
                </a:solidFill>
                <a:latin typeface="Calibri"/>
              </a:rPr>
              <a:t>Project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Indoor Navigation without GPS — LiDAR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908792" cy="12801"/>
          </a:xfrm>
          <a:prstGeom prst="rect">
            <a:avLst/>
          </a:prstGeom>
          <a:solidFill>
            <a:srgbClr val="DC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16152"/>
            <a:ext cx="1371600" cy="45720"/>
          </a:xfrm>
          <a:prstGeom prst="rect">
            <a:avLst/>
          </a:prstGeom>
          <a:solidFill>
            <a:srgbClr val="2E9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4114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sz="1500" b="1">
                <a:solidFill>
                  <a:srgbClr val="1E242E"/>
                </a:solidFill>
                <a:latin typeface="Calibri"/>
              </a:rPr>
              <a:t>▸  Autonomous indoor navigation where GPS is unavailable, using LiDAR-based SLAM</a:t>
            </a:r>
          </a:p>
          <a:p>
            <a:pPr algn="l" lvl="1">
              <a:spcBef>
                <a:spcPts val="300"/>
              </a:spcBef>
              <a:spcAft>
                <a:spcPts val="300"/>
              </a:spcAft>
            </a:pPr>
            <a:r>
              <a:rPr sz="1250" b="0">
                <a:solidFill>
                  <a:srgbClr val="555F6E"/>
                </a:solidFill>
                <a:latin typeface="Calibri"/>
              </a:rPr>
              <a:t>•  Built 2D occupancy-grid maps of indoor spaces in real time — walls and free space mapped as the drone moves</a:t>
            </a:r>
          </a:p>
          <a:p>
            <a:pPr algn="l" lvl="1">
              <a:spcBef>
                <a:spcPts val="300"/>
              </a:spcBef>
              <a:spcAft>
                <a:spcPts val="300"/>
              </a:spcAft>
            </a:pPr>
            <a:r>
              <a:rPr sz="1250" b="0">
                <a:solidFill>
                  <a:srgbClr val="555F6E"/>
                </a:solidFill>
                <a:latin typeface="Calibri"/>
              </a:rPr>
              <a:t>•  Lets the drone localize and avoid obstacles indoors — key for GPS-denied / EW-resilient operations</a:t>
            </a:r>
          </a:p>
          <a:p>
            <a:pPr algn="l">
              <a:spcBef>
                <a:spcPts val="1000"/>
              </a:spcBef>
              <a:spcAft>
                <a:spcPts val="300"/>
              </a:spcAft>
            </a:pPr>
            <a:r>
              <a:rPr sz="1200" b="1">
                <a:solidFill>
                  <a:srgbClr val="2E9BDF"/>
                </a:solidFill>
                <a:latin typeface="Calibri"/>
              </a:rPr>
              <a:t>LiDAR · 2D SLAM / occupancy mapping · Python</a:t>
            </a:r>
          </a:p>
        </p:txBody>
      </p:sp>
      <p:pic>
        <p:nvPicPr>
          <p:cNvPr id="7" name="Picture 6" descr="10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394095"/>
            <a:ext cx="3337560" cy="2527009"/>
          </a:xfrm>
          <a:prstGeom prst="rect">
            <a:avLst/>
          </a:prstGeom>
        </p:spPr>
      </p:pic>
      <p:pic>
        <p:nvPicPr>
          <p:cNvPr id="8" name="Picture 7" descr="10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597229"/>
            <a:ext cx="3337560" cy="21207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55F6E"/>
                </a:solidFill>
                <a:latin typeface="Calibri"/>
              </a:rPr>
              <a:t>Janadri Yalla Yashwanth  ·  Marut Drones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555F6E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2E9BDF"/>
                </a:solidFill>
                <a:latin typeface="Calibri"/>
              </a:rPr>
              <a:t>Project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LingBot — 3D Environment Mapping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908792" cy="12801"/>
          </a:xfrm>
          <a:prstGeom prst="rect">
            <a:avLst/>
          </a:prstGeom>
          <a:solidFill>
            <a:srgbClr val="DC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16152"/>
            <a:ext cx="1371600" cy="45720"/>
          </a:xfrm>
          <a:prstGeom prst="rect">
            <a:avLst/>
          </a:prstGeom>
          <a:solidFill>
            <a:srgbClr val="2E9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658368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sz="1700" b="1">
                <a:solidFill>
                  <a:srgbClr val="1E242E"/>
                </a:solidFill>
                <a:latin typeface="Calibri"/>
              </a:rPr>
              <a:t>▸  Built dense 3D point-cloud reconstructions of the environment — paths, vegetation and structures</a:t>
            </a:r>
          </a:p>
          <a:p>
            <a:pPr algn="l" lvl="1">
              <a:spcBef>
                <a:spcPts val="300"/>
              </a:spcBef>
              <a:spcAft>
                <a:spcPts val="300"/>
              </a:spcAft>
            </a:pPr>
            <a:r>
              <a:rPr sz="1450" b="0">
                <a:solidFill>
                  <a:srgbClr val="555F6E"/>
                </a:solidFill>
                <a:latin typeface="Calibri"/>
              </a:rPr>
              <a:t>•  Turns drone / sensor data into a navigable 3D map for perception and planning</a:t>
            </a:r>
          </a:p>
          <a:p>
            <a:pPr algn="l">
              <a:spcBef>
                <a:spcPts val="1200"/>
              </a:spcBef>
              <a:spcAft>
                <a:spcPts val="300"/>
              </a:spcAft>
            </a:pPr>
            <a:r>
              <a:rPr sz="1300" b="1">
                <a:solidFill>
                  <a:srgbClr val="2E9BDF"/>
                </a:solidFill>
                <a:latin typeface="Calibri"/>
              </a:rPr>
              <a:t>3D reconstruction · Point cloud · SLAM · Python</a:t>
            </a:r>
          </a:p>
        </p:txBody>
      </p:sp>
      <p:pic>
        <p:nvPicPr>
          <p:cNvPr id="7" name="Picture 6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2067515"/>
            <a:ext cx="4160520" cy="336304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55F6E"/>
                </a:solidFill>
                <a:latin typeface="Calibri"/>
              </a:rPr>
              <a:t>Janadri Yalla Yashwanth  ·  Marut Drones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555F6E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2E9BDF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Technical Skills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908792" cy="12801"/>
          </a:xfrm>
          <a:prstGeom prst="rect">
            <a:avLst/>
          </a:prstGeom>
          <a:solidFill>
            <a:srgbClr val="DC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16152"/>
            <a:ext cx="1371600" cy="45720"/>
          </a:xfrm>
          <a:prstGeom prst="rect">
            <a:avLst/>
          </a:prstGeom>
          <a:solidFill>
            <a:srgbClr val="2E9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900" b="1">
                <a:solidFill>
                  <a:srgbClr val="1E242E"/>
                </a:solidFill>
                <a:latin typeface="Calibri"/>
              </a:rPr>
              <a:t>▸  Languages: Python, C++, C, Java, SQL</a:t>
            </a:r>
          </a:p>
          <a:p>
            <a:pPr algn="l">
              <a:spcBef>
                <a:spcPts val="1000"/>
              </a:spcBef>
              <a:spcAft>
                <a:spcPts val="300"/>
              </a:spcAft>
            </a:pPr>
            <a:r>
              <a:rPr sz="1900" b="1">
                <a:solidFill>
                  <a:srgbClr val="1E242E"/>
                </a:solidFill>
                <a:latin typeface="Calibri"/>
              </a:rPr>
              <a:t>▸  AI / Computer Vision: PyTorch, YOLO, SAM-2, DeepForest, SegFormer, OpenCV, stereo vision</a:t>
            </a:r>
          </a:p>
          <a:p>
            <a:pPr algn="l">
              <a:spcBef>
                <a:spcPts val="1000"/>
              </a:spcBef>
              <a:spcAft>
                <a:spcPts val="300"/>
              </a:spcAft>
            </a:pPr>
            <a:r>
              <a:rPr sz="1900" b="1">
                <a:solidFill>
                  <a:srgbClr val="1E242E"/>
                </a:solidFill>
                <a:latin typeface="Calibri"/>
              </a:rPr>
              <a:t>▸  Drone / Autonomy: ArduPilot, MAVLink, Raspberry Pi, AprilTag, LiDAR, Radar, SLAM</a:t>
            </a:r>
          </a:p>
          <a:p>
            <a:pPr algn="l">
              <a:spcBef>
                <a:spcPts val="1000"/>
              </a:spcBef>
              <a:spcAft>
                <a:spcPts val="300"/>
              </a:spcAft>
            </a:pPr>
            <a:r>
              <a:rPr sz="1900" b="1">
                <a:solidFill>
                  <a:srgbClr val="1E242E"/>
                </a:solidFill>
                <a:latin typeface="Calibri"/>
              </a:rPr>
              <a:t>▸  Mapping / Geospatial: WebODM, Pix4D, rasterio, GDAL, GeoTIFF, DSM / DTM, GeoJSON</a:t>
            </a:r>
          </a:p>
          <a:p>
            <a:pPr algn="l">
              <a:spcBef>
                <a:spcPts val="1000"/>
              </a:spcBef>
              <a:spcAft>
                <a:spcPts val="300"/>
              </a:spcAft>
            </a:pPr>
            <a:r>
              <a:rPr sz="1900" b="1">
                <a:solidFill>
                  <a:srgbClr val="1E242E"/>
                </a:solidFill>
                <a:latin typeface="Calibri"/>
              </a:rPr>
              <a:t>▸  Backend: FastAPI, Celery, Redis, PostgreSQL, REST APIs</a:t>
            </a:r>
          </a:p>
          <a:p>
            <a:pPr algn="l">
              <a:spcBef>
                <a:spcPts val="1000"/>
              </a:spcBef>
              <a:spcAft>
                <a:spcPts val="300"/>
              </a:spcAft>
            </a:pPr>
            <a:r>
              <a:rPr sz="1900" b="1">
                <a:solidFill>
                  <a:srgbClr val="1E242E"/>
                </a:solidFill>
                <a:latin typeface="Calibri"/>
              </a:rPr>
              <a:t>▸  DevOps: Docker, GitHub Actions, Git, Linux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55F6E"/>
                </a:solidFill>
                <a:latin typeface="Calibri"/>
              </a:rPr>
              <a:t>Janadri Yalla Yashwanth  ·  Marut Drones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555F6E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2971800"/>
            <a:ext cx="1097280" cy="73152"/>
          </a:xfrm>
          <a:prstGeom prst="rect">
            <a:avLst/>
          </a:prstGeom>
          <a:solidFill>
            <a:srgbClr val="2E9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154680"/>
            <a:ext cx="10424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200" b="1">
                <a:solidFill>
                  <a:srgbClr val="1F3A5F"/>
                </a:solidFill>
                <a:latin typeface="Calibri"/>
              </a:rPr>
              <a:t>Thank you  —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